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ZALANDO  |  NETWORK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080"/>
                </a:solidFill>
                <a:latin typeface="Calibri"/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822960" cy="54864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1A"/>
                </a:solidFill>
                <a:latin typeface="Calibri"/>
              </a:rPr>
              <a:t>Warehouse Inbound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alibri"/>
              </a:rPr>
              <a:t>Daily Receipt Volume Forecast — June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66666"/>
                </a:solidFill>
                <a:latin typeface="Calibri"/>
              </a:rPr>
              <a:t>Statistical lag model  ·  Day-of-week segmentation  ·  Out-of-sample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What This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7295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4008" cy="105156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90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Problem context &amp;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659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Two inputs: 5 months of order-to-receipt history + June sales forecast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11277295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64008" cy="105156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90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Key insights from 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004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Orders arrive over multiple days · day-of-week patterns drive the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1277295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64008" cy="105156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900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Modelling approach &amp;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348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Lag distribution, method choices, and out-of-sample May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11277295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74920"/>
            <a:ext cx="64008" cy="105156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66360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900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166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June forecast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6692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Daily receipts Jun 1–30, total 2,435,582 items, key patterns to 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Goal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What we set out to do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Predict daily warehouse receipt volumes for all 30 days of June 2022.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The model is a distribution mechanism — the total June demand level comes from a business-provided sales forecast; the model adds the operational timing pattern on top.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Why it matters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Warehouse staffing and inbound capacity planning depend on accurate daily receipt volumes — not just monthly totals.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280160"/>
            <a:ext cx="576072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280160"/>
            <a:ext cx="64008" cy="2331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325880"/>
            <a:ext cx="5669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  Input 1 — Historical Data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  Jan 1 – May 31, 2022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  1,763 rows  |  151 unique order dates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  Covers order-to-receipt item volumes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  Receipt dates extend to Jun 11 (late-May spillover)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3794760"/>
            <a:ext cx="576072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3794760"/>
            <a:ext cx="64008" cy="2331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3840480"/>
            <a:ext cx="5669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  Input 2 — June Sales Forecast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  Jun 1–30, 2022  (all 30 days)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  Total forecast: 2,433,610 items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  Day-of-week shape consistent with history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  Jun 28 high-order day retained (183,785 items)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Key Insight: Orders Arrive Across Multiple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Calibri"/>
              </a:rPr>
              <a:t>How items flow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Each day's orders are received at the warehouse over the following 0–4 days, not all at once.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~50% arrive same day (lag 0)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~92% within 2 days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~99.9% within 4 days  →  cap lag at 4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900" b="1">
                <a:solidFill>
                  <a:srgbClr val="1A1A1A"/>
                </a:solidFill>
                <a:latin typeface="Calibri"/>
              </a:rPr>
              <a:t>Day of week changes everything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Friday orders skip Saturday processing — most arrive Monday–Tuesday (lag 3). Saturday orders also peak Monday (lag 2). Sunday warehouse operations are reduced.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FF6900"/>
                </a:solidFill>
                <a:latin typeface="Calibri"/>
              </a:rPr>
              <a:t>→ Lag distribution must be segmented by day of week.</a:t>
            </a:r>
          </a:p>
        </p:txBody>
      </p:sp>
      <p:pic>
        <p:nvPicPr>
          <p:cNvPr id="5" name="Picture 4" descr="lag_heatmap_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6126480" cy="23476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Modelling Approach — 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Calibri"/>
              </a:rPr>
              <a:t>Day-of-week segmented lag distribution applied in 4 steps. Validation precedes the June output to prove the approach works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606040" cy="4160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606040" cy="10972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900"/>
                </a:solidFill>
                <a:latin typeface="Calibri"/>
              </a:rPr>
              <a:t>4.1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Build lag
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18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Jan–Apr train set
120 order dates
17–18 per day-of-week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657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90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2606040" cy="4160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2606040" cy="10972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9202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900"/>
                </a:solidFill>
                <a:latin typeface="Calibri"/>
              </a:rPr>
              <a:t>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Validate
on May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918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Apply to actual May orders
Compare vs actual receipts
MAE / MAPE / Bias / 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657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90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2606040" cy="4160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37360"/>
            <a:ext cx="2606040" cy="10972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900"/>
                </a:solidFill>
                <a:latin typeface="Calibri"/>
              </a:rPr>
              <a:t>4.3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14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Rebuild on
Jan–May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918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Retrain on full history
More data, more reliable
Largest shift: Sun lag 0 −3.4pp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657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90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737360"/>
            <a:ext cx="2606040" cy="4160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737360"/>
            <a:ext cx="2606040" cy="109728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9202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900"/>
                </a:solidFill>
                <a:latin typeface="Calibri"/>
              </a:rPr>
              <a:t>4.4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5146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Apply to
June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2918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June forecast + May spillover
→ write expected_output.csv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solidFill>
            <a:srgbClr val="FF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172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Why not ML?  Dataset too small (~151 unique order dates), operational mechanism is clear (weekend closures, processing schedules), statistical approach is far more interpretable.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Model Validation — May 2022 (Out-of-Sample)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Calibri"/>
              </a:rPr>
              <a:t>Trained on Jan–Apr only. Applied to actual May orders + April spillover.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21208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64008" cy="82296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647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00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465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7,862 items/day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8541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~11% of avg daily receipts — timing spread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24328"/>
            <a:ext cx="521208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24328"/>
            <a:ext cx="64008" cy="82296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97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00"/>
                </a:solidFill>
                <a:latin typeface="Calibri"/>
              </a:rPr>
              <a:t>MAPE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791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11.6%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181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Acceptable for a statistical lag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57016"/>
            <a:ext cx="521208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57016"/>
            <a:ext cx="64008" cy="82296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6301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00"/>
                </a:solidFill>
                <a:latin typeface="Calibri"/>
              </a:rPr>
              <a:t>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11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+343 items/day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50791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Negligible — no systematic over/under-forecast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9704"/>
            <a:ext cx="521208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89704"/>
            <a:ext cx="64008" cy="82296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5628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00"/>
                </a:solidFill>
                <a:latin typeface="Calibri"/>
              </a:rPr>
              <a:t>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5445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10,720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9834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RMSE/MAE = 1.36 — no extreme peak-day misses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68112"/>
            <a:ext cx="5212080" cy="658368"/>
          </a:xfrm>
          <a:prstGeom prst="rect">
            <a:avLst/>
          </a:prstGeom>
          <a:solidFill>
            <a:srgbClr val="FF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1383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Monthly total: predicted 2,249,715 vs actual 2,239,069
→  0.5% over  ·  Well-calibrated  ·  Proceed to June</a:t>
            </a:r>
          </a:p>
        </p:txBody>
      </p:sp>
      <p:pic>
        <p:nvPicPr>
          <p:cNvPr id="27" name="Picture 26" descr="may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88720"/>
            <a:ext cx="6035040" cy="21076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June 2022 Forecast — Daily Warehouse Receipts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7315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66666"/>
                </a:solidFill>
                <a:latin typeface="Calibri"/>
              </a:rPr>
              <a:t>Total forecast receipts: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618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2,435,582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984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June order forecast: 2,433,610  (+1,972 net — May spillover &gt; month-end taper)</a:t>
            </a:r>
          </a:p>
        </p:txBody>
      </p:sp>
      <p:pic>
        <p:nvPicPr>
          <p:cNvPr id="9" name="Picture 8" descr="jun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1277295" cy="39383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Key Patterns in the June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76072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760720" cy="914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Sundays consistently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900"/>
                </a:solidFill>
                <a:latin typeface="Calibri"/>
              </a:rPr>
              <a:t>23k–46k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Reduced warehouse operations.
Jun 5: 23,318  ·  Jun 12: 35,485  ·  Jun 19: 30,595  ·  Jun 26: 45,816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76072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5760720" cy="914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184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Mondays consistently peak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900"/>
                </a:solidFill>
                <a:latin typeface="Calibri"/>
              </a:rPr>
              <a:t>76k–101k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Monday receipts absorb Fri/Sat/Sun order spillover.
Most capacity-constrained day of the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576072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576072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7880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Jun 1–4 elevated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091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+75,284 items spillover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3035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Known May-order receipts added directly from input_1.
Jun 1 alone: +51,835 items (68% of total spillover).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977639"/>
            <a:ext cx="5760720" cy="2331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977639"/>
            <a:ext cx="576072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17880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Calibri"/>
              </a:rPr>
              <a:t>Jun 27–30 spike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091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Jun 28: 157,058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3035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Jun 28 high-order day (183,785 orders in input_2)
propagates through lags 0–2 into Jun 28–30.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Limitations &amp; Scope of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Scope of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64008" cy="123444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Forecast accuracy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677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Model distributes timing only. If input_2 order volumes are wrong, receipt totals are off by a similar proportion — outside the model's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548640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64008" cy="123444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46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Static lag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8503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Assumes lag patterns are stable over time. Operational changes (new shifts, carriers, warehouse expansion) are not captured without retraining.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548640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64008" cy="1234440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Month-end taper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10235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Jun 27–30 lag 1–4 contributions fall in July and are excluded. Declining receipts at month-end are correct model behaviour, not an error.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548640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737360"/>
            <a:ext cx="64008" cy="12344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Rolling retraining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2677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Re-fit lag distribution monthly as new data arrives — captures gradual operational changes without manual intervention.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54680"/>
            <a:ext cx="548640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154680"/>
            <a:ext cx="64008" cy="12344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246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Uncertainty intervals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68503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Add ±1 MAE confidence bands around the daily forecast to support capacity planning scenarios (optimistic / base / conservative).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72000"/>
            <a:ext cx="5486400" cy="1234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572000"/>
            <a:ext cx="64008" cy="12344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Multi-warehouse extension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510235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Same approach generalises to a network-level planning tool with site-specific lag profiles per fulfilment centre.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118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66666"/>
                </a:solidFill>
                <a:latin typeface="Calibri"/>
              </a:rPr>
              <a:t>Methodology detail  ·  Supporting analysis  ·  Method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Appendix A1 — Data 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7295" cy="2377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64008" cy="237744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Input 1 (Historical) — Anomaly detected and imputed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10512"/>
            <a:ext cx="10972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Row 1731 (May 29): items = 27,533,000 — 367.9× the next highest value of 74,843. Identified as a data entry error.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IQR method flagged 326 rows (18.5%) — rejected. Structural right-skew drives Q1 to 19 (long-lag trickles), producing an upper bound of 13,529 that incorrectly flags legitimate high-volume records.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Treatment: imputed with median lag-0 value for Sunday orders (32,161). May 2022 total restored to ~2.24M (from ~29.7M inflated value).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11277295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64008" cy="20116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90448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Input 2 (Forecast) — One high value reviewed and retained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416552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Jun 28: Forecated_items = 183,785  (IQR upper bound: 142,837 — 1.3× exceedance).</a:t>
            </a:r>
          </a:p>
          <a:p>
            <a:pPr algn="l"/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Not a data entry error: 1.3× vs 367.9× for the input_1 anomaly. Business-provided forecast input retained as-is. Likely reflects a planned promotion or end-of-month sales event — propagates naturally as a receipt spike on Jun 28–30.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Appendix A2 — Item-Weighted Lag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Calibri"/>
              </a:rPr>
              <a:t>Item-weighted view: each item counts equally (not each row). Lag capped at 4 days — captures 99.9% of item volume. Row-weighted 99th percentile (16 days) overstates the tail due to many long-lag rows carrying only a handful of items.</a:t>
            </a:r>
          </a:p>
        </p:txBody>
      </p:sp>
      <p:pic>
        <p:nvPicPr>
          <p:cNvPr id="5" name="Picture 4" descr="la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810512"/>
            <a:ext cx="8899855" cy="3633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56032"/>
            <a:ext cx="11430000" cy="457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9184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Appendix A3 — Modelling Method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77295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447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Statistical, not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~151 unique order dates is too small for ML to generalise reliably. The operational mechanism (weekend closures, carrier schedules) is clear and directly modelled by a lag distribution. Statistical approach is interpretable for a business audience.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11277295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64008" cy="14173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0449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Aggregate-shares, not mean-of-shares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6616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Aggregate-shares weights each item equally — correct for distributing item volumes. Mean-of-shares weights each calendar date equally, so a quiet Monday votes the same as a busy one. This skews lag 0 upward by up to 2.12pp (Tuesday). Aggregate-shares gives the more accurate warehouse planning estimate.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26280"/>
            <a:ext cx="11277295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64008" cy="14173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6451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Day-of-week segmentation, not calendar-week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16636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Fri/Sat/Sun have structurally different lag profiles (lag-3 spike on Fri, lag-2 peak on Sat, suppressed lag-1 on Sun). Calendar week shows stable order/receiving alignment across all 22 weeks — CW segmentation would produce thin, unreliable buckets without accuracy gains.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